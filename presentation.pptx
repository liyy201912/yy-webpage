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0" y="1600200"/>
            <a:ext cx="9875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1">
                <a:solidFill>
                  <a:srgbClr val="FFFFFF"/>
                </a:solidFill>
                <a:latin typeface="Helvetica Neue"/>
              </a:rPr>
              <a:t>Yanyu Li</a:t>
            </a:r>
          </a:p>
          <a:p>
            <a:pPr algn="ctr">
              <a:spcAft>
                <a:spcPts val="1800"/>
              </a:spcAft>
            </a:pPr>
            <a:r>
              <a:rPr sz="2300" b="0">
                <a:solidFill>
                  <a:srgbClr val="C8D8EE"/>
                </a:solidFill>
                <a:latin typeface="Helvetica Neue"/>
              </a:rPr>
              <a:t>Ph.D., Northeastern University</a:t>
            </a:r>
          </a:p>
          <a:p>
            <a:pPr algn="ctr">
              <a:spcAft>
                <a:spcPts val="1400"/>
              </a:spcAft>
            </a:pPr>
            <a:r>
              <a:rPr sz="1700" b="0">
                <a:solidFill>
                  <a:srgbClr val="A6BBD6"/>
                </a:solidFill>
                <a:latin typeface="Helvetica Neue"/>
              </a:rPr>
              <a:t>Efficient AI  |  Vision Transformers  |  Diffusion Models  |  Mobile and Edge Deployment</a:t>
            </a:r>
          </a:p>
          <a:p>
            <a:pPr algn="ctr">
              <a:spcAft>
                <a:spcPts val="0"/>
              </a:spcAft>
            </a:pPr>
            <a:r>
              <a:rPr sz="1500" b="0">
                <a:solidFill>
                  <a:srgbClr val="92ABC9"/>
                </a:solidFill>
                <a:latin typeface="Helvetica Neue"/>
              </a:rPr>
              <a:t>59 publications  |  2,963 citations  |  h-index 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51663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A6BBD6"/>
                </a:solidFill>
                <a:latin typeface="Helvetica Neue"/>
              </a:rPr>
              <a:t>yanyu.li@northeastern.edu   |   scholar.google.com/citations?user=XUj8koUAAAAJ   |   github.com/liyy201912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73152" cy="43891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2412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A365D"/>
                </a:solidFill>
                <a:latin typeface="Helvetica Neue"/>
              </a:rPr>
              <a:t>Research Profile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Helvetica Neue"/>
              </a:rPr>
              <a:t>Scientist working on efficient deep learning for vision, generative modeling, and deployment.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34440"/>
            <a:ext cx="64922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0">
                <a:solidFill>
                  <a:srgbClr val="1F2937"/>
                </a:solidFill>
                <a:latin typeface="Helvetica Neue"/>
              </a:rPr>
              <a:t>My research focuses on translating state-of-the-art machine learning systems to mobile, edge, and hardware-constrained environments through efficient architecture design, compression, and algorithm-hardware co-design.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6B7280"/>
                </a:solidFill>
                <a:latin typeface="Helvetica Neue"/>
              </a:rPr>
              <a:t>Research areas: efficient vision transformers, diffusion models, pruning, quantization, NAS, and on-device generative AI.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Helvetica Neue"/>
              </a:rPr>
              <a:t>Publications at NeurIPS, CVPR, ICCV, ICLR, AAAI, IJCAI, ECCV, HPCA, FPGA, and FPL.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09560" y="1325880"/>
            <a:ext cx="1783080" cy="96012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</a:pPr>
            <a:r>
              <a:rPr sz="2600" b="1">
                <a:solidFill>
                  <a:srgbClr val="2B6CB0"/>
                </a:solidFill>
                <a:latin typeface="Helvetica Neue"/>
              </a:rPr>
              <a:t>2,963</a:t>
            </a:r>
          </a:p>
          <a:p>
            <a:pPr algn="ctr"/>
            <a:r>
              <a:rPr sz="1200" b="0">
                <a:solidFill>
                  <a:srgbClr val="6B7280"/>
                </a:solidFill>
                <a:latin typeface="Helvetica Neue"/>
              </a:rPr>
              <a:t>Citations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1325880"/>
            <a:ext cx="1783080" cy="96012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</a:pPr>
            <a:r>
              <a:rPr sz="2600" b="1">
                <a:solidFill>
                  <a:srgbClr val="2B6CB0"/>
                </a:solidFill>
                <a:latin typeface="Helvetica Neue"/>
              </a:rPr>
              <a:t>23</a:t>
            </a:r>
          </a:p>
          <a:p>
            <a:pPr algn="ctr"/>
            <a:r>
              <a:rPr sz="1200" b="0">
                <a:solidFill>
                  <a:srgbClr val="6B7280"/>
                </a:solidFill>
                <a:latin typeface="Helvetica Neue"/>
              </a:rPr>
              <a:t>h-index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09560" y="2468880"/>
            <a:ext cx="1783080" cy="96012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</a:pPr>
            <a:r>
              <a:rPr sz="2600" b="1">
                <a:solidFill>
                  <a:srgbClr val="2B6CB0"/>
                </a:solidFill>
                <a:latin typeface="Helvetica Neue"/>
              </a:rPr>
              <a:t>59</a:t>
            </a:r>
          </a:p>
          <a:p>
            <a:pPr algn="ctr"/>
            <a:r>
              <a:rPr sz="1200" b="0">
                <a:solidFill>
                  <a:srgbClr val="6B7280"/>
                </a:solidFill>
                <a:latin typeface="Helvetica Neue"/>
              </a:rPr>
              <a:t>Publications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75520" y="2468880"/>
            <a:ext cx="1783080" cy="96012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</a:pPr>
            <a:r>
              <a:rPr sz="2600" b="1">
                <a:solidFill>
                  <a:srgbClr val="2B6CB0"/>
                </a:solidFill>
                <a:latin typeface="Helvetica Neue"/>
              </a:rPr>
              <a:t>7</a:t>
            </a:r>
          </a:p>
          <a:p>
            <a:pPr algn="ctr"/>
            <a:r>
              <a:rPr sz="1200" b="0">
                <a:solidFill>
                  <a:srgbClr val="6B7280"/>
                </a:solidFill>
                <a:latin typeface="Helvetica Neue"/>
              </a:rPr>
              <a:t>Patents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063240"/>
            <a:ext cx="4846320" cy="2331720"/>
          </a:xfrm>
          <a:prstGeom prst="roundRect">
            <a:avLst/>
          </a:prstGeom>
          <a:solidFill>
            <a:srgbClr val="FAFBFD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227832"/>
            <a:ext cx="4535424" cy="2075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1A365D"/>
                </a:solidFill>
                <a:latin typeface="Helvetica Neue"/>
              </a:rPr>
              <a:t>Education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6B7280"/>
                </a:solidFill>
                <a:latin typeface="Helvetica Neue"/>
              </a:rPr>
              <a:t>Ph.D. in Computer Engineering, Northeastern University (2019-2024)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6B7280"/>
                </a:solidFill>
                <a:latin typeface="Helvetica Neue"/>
              </a:rPr>
              <a:t>Advisor: Prof. Yanzhi Wang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6B7280"/>
                </a:solidFill>
                <a:latin typeface="Helvetica Neue"/>
              </a:rPr>
              <a:t>M.S. in Mechanical Engineering (Robotics), Boston University (2017-2019)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6B7280"/>
                </a:solidFill>
                <a:latin typeface="Helvetica Neue"/>
              </a:rPr>
              <a:t>B.E. in Mechanical Engineering, Tsinghua University (2011-2015)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0" y="3063240"/>
            <a:ext cx="2880360" cy="2331720"/>
          </a:xfrm>
          <a:prstGeom prst="roundRect">
            <a:avLst/>
          </a:prstGeom>
          <a:solidFill>
            <a:srgbClr val="FAFBFD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90488" y="3227832"/>
            <a:ext cx="2569464" cy="2075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1A365D"/>
                </a:solidFill>
                <a:latin typeface="Helvetica Neue"/>
              </a:rPr>
              <a:t>Experience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6B7280"/>
                </a:solidFill>
                <a:latin typeface="Helvetica Neue"/>
              </a:rPr>
              <a:t>Snap Inc. research internships (2022-present)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6B7280"/>
                </a:solidFill>
                <a:latin typeface="Helvetica Neue"/>
              </a:rPr>
              <a:t>CoCoPIE LLC (2021)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6B7280"/>
                </a:solidFill>
                <a:latin typeface="Helvetica Neue"/>
              </a:rPr>
              <a:t>Kuaishou Technology US R&amp;D (2020-2021)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98280" y="3063240"/>
            <a:ext cx="2148840" cy="2331720"/>
          </a:xfrm>
          <a:prstGeom prst="roundRect">
            <a:avLst/>
          </a:prstGeom>
          <a:solidFill>
            <a:srgbClr val="FAFBFD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99448" y="3227832"/>
            <a:ext cx="1837944" cy="2075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1A365D"/>
                </a:solidFill>
                <a:latin typeface="Helvetica Neue"/>
              </a:rPr>
              <a:t>Focus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6B7280"/>
                </a:solidFill>
                <a:latin typeface="Helvetica Neue"/>
              </a:rPr>
              <a:t>Mobile AI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6B7280"/>
                </a:solidFill>
                <a:latin typeface="Helvetica Neue"/>
              </a:rPr>
              <a:t>Generative models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6B7280"/>
                </a:solidFill>
                <a:latin typeface="Helvetica Neue"/>
              </a:rPr>
              <a:t>Efficient training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6B7280"/>
                </a:solidFill>
                <a:latin typeface="Helvetica Neue"/>
              </a:rPr>
              <a:t>Edge systems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73152" cy="43891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2412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A365D"/>
                </a:solidFill>
                <a:latin typeface="Helvetica Neue"/>
              </a:rPr>
              <a:t>Research Program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Helvetica Neue"/>
              </a:rPr>
              <a:t>Three connected pillars that link efficient model design to practical deployment.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325880"/>
            <a:ext cx="3429000" cy="4526280"/>
          </a:xfrm>
          <a:prstGeom prst="roundRect">
            <a:avLst/>
          </a:prstGeom>
          <a:solidFill>
            <a:srgbClr val="FAFBFD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325880"/>
            <a:ext cx="54864" cy="452628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" y="1490472"/>
            <a:ext cx="3108960" cy="4270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1">
                <a:solidFill>
                  <a:srgbClr val="1A365D"/>
                </a:solidFill>
                <a:latin typeface="Helvetica Neue"/>
              </a:rPr>
              <a:t>Efficient Vision Transformers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6B7280"/>
                </a:solidFill>
                <a:latin typeface="Helvetica Neue"/>
              </a:rPr>
              <a:t>• Transformer backbones tailored for mobile-scale latency and memory budgets.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6B7280"/>
                </a:solidFill>
                <a:latin typeface="Helvetica Neue"/>
              </a:rPr>
              <a:t>• Design principles validated through EfficientFormer and EfficientFormerV2.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6B7280"/>
                </a:solidFill>
                <a:latin typeface="Helvetica Neue"/>
              </a:rPr>
              <a:t>• Applications extend to classification, segmentation, and edge perception.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26280" y="1325880"/>
            <a:ext cx="3429000" cy="4526280"/>
          </a:xfrm>
          <a:prstGeom prst="roundRect">
            <a:avLst/>
          </a:prstGeom>
          <a:solidFill>
            <a:srgbClr val="FAFBFD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26280" y="1325880"/>
            <a:ext cx="54864" cy="4526280"/>
          </a:xfrm>
          <a:prstGeom prst="rect">
            <a:avLst/>
          </a:prstGeom>
          <a:solidFill>
            <a:srgbClr val="2F85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45736" y="1490472"/>
            <a:ext cx="3108960" cy="4270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1">
                <a:solidFill>
                  <a:srgbClr val="1A365D"/>
                </a:solidFill>
                <a:latin typeface="Helvetica Neue"/>
              </a:rPr>
              <a:t>Diffusion Models and Generative AI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6B7280"/>
                </a:solidFill>
                <a:latin typeface="Helvetica Neue"/>
              </a:rPr>
              <a:t>• Fast text-to-image and video generation for mobile and edge devices.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6B7280"/>
                </a:solidFill>
                <a:latin typeface="Helvetica Neue"/>
              </a:rPr>
              <a:t>• Quality-control techniques via text encoders, distillation, and efficient sampling.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6B7280"/>
                </a:solidFill>
                <a:latin typeface="Helvetica Neue"/>
              </a:rPr>
              <a:t>• Compression-aware generative modeling including ultra-low-bit diffusion.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325880"/>
            <a:ext cx="3154680" cy="4526280"/>
          </a:xfrm>
          <a:prstGeom prst="roundRect">
            <a:avLst/>
          </a:prstGeom>
          <a:solidFill>
            <a:srgbClr val="FAFBFD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138160" y="1325880"/>
            <a:ext cx="54864" cy="4526280"/>
          </a:xfrm>
          <a:prstGeom prst="rect">
            <a:avLst/>
          </a:prstGeom>
          <a:solidFill>
            <a:srgbClr val="734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57616" y="1490472"/>
            <a:ext cx="2834640" cy="4270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1">
                <a:solidFill>
                  <a:srgbClr val="1A365D"/>
                </a:solidFill>
                <a:latin typeface="Helvetica Neue"/>
              </a:rPr>
              <a:t>Compression and Hardware-Aware Optimization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6B7280"/>
                </a:solidFill>
                <a:latin typeface="Helvetica Neue"/>
              </a:rPr>
              <a:t>• Quantization, pruning, sparse training, and neural architecture search.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6B7280"/>
                </a:solidFill>
                <a:latin typeface="Helvetica Neue"/>
              </a:rPr>
              <a:t>• Algorithm-hardware co-design for phones, edge accelerators, and FPGAs.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6B7280"/>
                </a:solidFill>
                <a:latin typeface="Helvetica Neue"/>
              </a:rPr>
              <a:t>• Real-world deployment emphasis: latency, memory, and energy efficiency.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73152" cy="43891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2412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A365D"/>
                </a:solidFill>
                <a:latin typeface="Helvetica Neue"/>
              </a:rPr>
              <a:t>Selected Contributions: Efficient Vision Transformers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Helvetica Neue"/>
              </a:rPr>
              <a:t>Representative first-author work on mobile-speed visual transformers and efficient deployment.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325880"/>
            <a:ext cx="2834640" cy="4572000"/>
          </a:xfrm>
          <a:prstGeom prst="roundRect">
            <a:avLst/>
          </a:prstGeom>
          <a:solidFill>
            <a:srgbClr val="FAFBFD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325880"/>
            <a:ext cx="54864" cy="45720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" y="1490472"/>
            <a:ext cx="2514600" cy="4315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1">
                <a:solidFill>
                  <a:srgbClr val="1A365D"/>
                </a:solidFill>
                <a:latin typeface="Helvetica Neue"/>
              </a:rPr>
              <a:t>Key Outcomes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6B7280"/>
                </a:solidFill>
                <a:latin typeface="Helvetica Neue"/>
              </a:rPr>
              <a:t>• Showed that transformer backbones can achieve MobileNet-class latency on mobile hardware.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6B7280"/>
                </a:solidFill>
                <a:latin typeface="Helvetica Neue"/>
              </a:rPr>
              <a:t>• Enabled approximately 1 ms image recognition on smartphones in industrial deployment settings.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6B7280"/>
                </a:solidFill>
                <a:latin typeface="Helvetica Neue"/>
              </a:rPr>
              <a:t>• Extended efficient design ideas to segmentation and search-based architecture optimization.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77639" y="1417320"/>
            <a:ext cx="3383280" cy="18288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78807" y="1527048"/>
            <a:ext cx="307238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 b="1">
                <a:solidFill>
                  <a:srgbClr val="1A365D"/>
                </a:solidFill>
                <a:latin typeface="Helvetica Neue"/>
              </a:rPr>
              <a:t>EfficientFormer: Vision Transformers at MobileNet Speed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7280"/>
                </a:solidFill>
                <a:latin typeface="Helvetica Neue"/>
              </a:rPr>
              <a:t>Dimension-consistent transformer design for strong accuracy with mobile-scale inference speed.</a:t>
            </a:r>
          </a:p>
          <a:p>
            <a:pPr algn="l">
              <a:spcAft>
                <a:spcPts val="0"/>
              </a:spcAft>
            </a:pPr>
            <a:r>
              <a:rPr sz="1100" b="1">
                <a:solidFill>
                  <a:srgbClr val="2B6CB0"/>
                </a:solidFill>
                <a:latin typeface="Helvetica Neue"/>
              </a:rPr>
              <a:t>NeurIPS 2022  |  764 citations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1417320"/>
            <a:ext cx="3383280" cy="18288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90688" y="1527048"/>
            <a:ext cx="307238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 b="1">
                <a:solidFill>
                  <a:srgbClr val="1A365D"/>
                </a:solidFill>
                <a:latin typeface="Helvetica Neue"/>
              </a:rPr>
              <a:t>Rethinking Vision Transformers for MobileNet Size and Speed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7280"/>
                </a:solidFill>
                <a:latin typeface="Helvetica Neue"/>
              </a:rPr>
              <a:t>Refined mobile transformer design through better accuracy-latency trade-offs and scaling behavior.</a:t>
            </a:r>
          </a:p>
          <a:p>
            <a:pPr algn="l">
              <a:spcAft>
                <a:spcPts val="0"/>
              </a:spcAft>
            </a:pPr>
            <a:r>
              <a:rPr sz="1100" b="1">
                <a:solidFill>
                  <a:srgbClr val="2B6CB0"/>
                </a:solidFill>
                <a:latin typeface="Helvetica Neue"/>
              </a:rPr>
              <a:t>ICCV 2023  |  428 citations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77639" y="3520440"/>
            <a:ext cx="3383280" cy="15544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78807" y="3630168"/>
            <a:ext cx="307238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 b="1">
                <a:solidFill>
                  <a:srgbClr val="1A365D"/>
                </a:solidFill>
                <a:latin typeface="Helvetica Neue"/>
              </a:rPr>
              <a:t>Pruning-as-Search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7280"/>
                </a:solidFill>
                <a:latin typeface="Helvetica Neue"/>
              </a:rPr>
              <a:t>Efficient neural architecture search via channel pruning and structural reparameterization.</a:t>
            </a:r>
          </a:p>
          <a:p>
            <a:pPr algn="l">
              <a:spcAft>
                <a:spcPts val="0"/>
              </a:spcAft>
            </a:pPr>
            <a:r>
              <a:rPr sz="1100" b="1">
                <a:solidFill>
                  <a:srgbClr val="2B6CB0"/>
                </a:solidFill>
                <a:latin typeface="Helvetica Neue"/>
              </a:rPr>
              <a:t>IJCAI 2022  |  78 citations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0" y="3520440"/>
            <a:ext cx="3383280" cy="15544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90688" y="3630168"/>
            <a:ext cx="307238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 b="1">
                <a:solidFill>
                  <a:srgbClr val="1A365D"/>
                </a:solidFill>
                <a:latin typeface="Helvetica Neue"/>
              </a:rPr>
              <a:t>Towards Real-Time Segmentation on the Edge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7280"/>
                </a:solidFill>
                <a:latin typeface="Helvetica Neue"/>
              </a:rPr>
              <a:t>Real-time segmentation methods designed for edge deployment scenarios.</a:t>
            </a:r>
          </a:p>
          <a:p>
            <a:pPr algn="l">
              <a:spcAft>
                <a:spcPts val="0"/>
              </a:spcAft>
            </a:pPr>
            <a:r>
              <a:rPr sz="1100" b="1">
                <a:solidFill>
                  <a:srgbClr val="2B6CB0"/>
                </a:solidFill>
                <a:latin typeface="Helvetica Neue"/>
              </a:rPr>
              <a:t>AAAI 2023  |  25 citations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73152" cy="43891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2412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A365D"/>
                </a:solidFill>
                <a:latin typeface="Helvetica Neue"/>
              </a:rPr>
              <a:t>Selected Contributions: Diffusion Models and Generative AI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Helvetica Neue"/>
              </a:rPr>
              <a:t>Efficient text-to-image and video generation with an emphasis on mobile deployment and quality.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325880"/>
            <a:ext cx="3520440" cy="15544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" y="1435608"/>
            <a:ext cx="320954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 b="1">
                <a:solidFill>
                  <a:srgbClr val="1A365D"/>
                </a:solidFill>
                <a:latin typeface="Helvetica Neue"/>
              </a:rPr>
              <a:t>SnapFusion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7280"/>
                </a:solidFill>
                <a:latin typeface="Helvetica Neue"/>
              </a:rPr>
              <a:t>Sub-two-second text-to-image diffusion on mobile devices through architecture and sampling optimization.</a:t>
            </a:r>
          </a:p>
          <a:p>
            <a:pPr algn="l">
              <a:spcAft>
                <a:spcPts val="0"/>
              </a:spcAft>
            </a:pPr>
            <a:r>
              <a:rPr sz="1100" b="1">
                <a:solidFill>
                  <a:srgbClr val="2F8559"/>
                </a:solidFill>
                <a:latin typeface="Helvetica Neue"/>
              </a:rPr>
              <a:t>NeurIPS 2023  |  305 citations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1325880"/>
            <a:ext cx="3520440" cy="15544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73168" y="1435608"/>
            <a:ext cx="320954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 b="1">
                <a:solidFill>
                  <a:srgbClr val="1A365D"/>
                </a:solidFill>
                <a:latin typeface="Helvetica Neue"/>
              </a:rPr>
              <a:t>TextCraftor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7280"/>
                </a:solidFill>
                <a:latin typeface="Helvetica Neue"/>
              </a:rPr>
              <a:t>Used the text encoder as a controllable quality signal for diffusion image generation.</a:t>
            </a:r>
          </a:p>
          <a:p>
            <a:pPr algn="l">
              <a:spcAft>
                <a:spcPts val="0"/>
              </a:spcAft>
            </a:pPr>
            <a:r>
              <a:rPr sz="1100" b="1">
                <a:solidFill>
                  <a:srgbClr val="2F8559"/>
                </a:solidFill>
                <a:latin typeface="Helvetica Neue"/>
              </a:rPr>
              <a:t>CVPR 2024  |  32 citations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325880"/>
            <a:ext cx="3063240" cy="15544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30768" y="1435608"/>
            <a:ext cx="275234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 b="1">
                <a:solidFill>
                  <a:srgbClr val="1A365D"/>
                </a:solidFill>
                <a:latin typeface="Helvetica Neue"/>
              </a:rPr>
              <a:t>BitsFusion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7280"/>
                </a:solidFill>
                <a:latin typeface="Helvetica Neue"/>
              </a:rPr>
              <a:t>1.99-bit diffusion model quantization with limited generation quality degradation.</a:t>
            </a:r>
          </a:p>
          <a:p>
            <a:pPr algn="l">
              <a:spcAft>
                <a:spcPts val="0"/>
              </a:spcAft>
            </a:pPr>
            <a:r>
              <a:rPr sz="1100" b="1">
                <a:solidFill>
                  <a:srgbClr val="2F8559"/>
                </a:solidFill>
                <a:latin typeface="Helvetica Neue"/>
              </a:rPr>
              <a:t>NeurIPS 2024  |  43 citations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154680"/>
            <a:ext cx="3520440" cy="15544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3264408"/>
            <a:ext cx="320954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 b="1">
                <a:solidFill>
                  <a:srgbClr val="1A365D"/>
                </a:solidFill>
                <a:latin typeface="Helvetica Neue"/>
              </a:rPr>
              <a:t>SF-V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7280"/>
                </a:solidFill>
                <a:latin typeface="Helvetica Neue"/>
              </a:rPr>
              <a:t>Single-forward video generation to reduce computational cost while maintaining quality.</a:t>
            </a:r>
          </a:p>
          <a:p>
            <a:pPr algn="l">
              <a:spcAft>
                <a:spcPts val="0"/>
              </a:spcAft>
            </a:pPr>
            <a:r>
              <a:rPr sz="1100" b="1">
                <a:solidFill>
                  <a:srgbClr val="2F8559"/>
                </a:solidFill>
                <a:latin typeface="Helvetica Neue"/>
              </a:rPr>
              <a:t>NeurIPS 2024  |  31 citations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3154680"/>
            <a:ext cx="3520440" cy="15544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73168" y="3264408"/>
            <a:ext cx="320954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 b="1">
                <a:solidFill>
                  <a:srgbClr val="1A365D"/>
                </a:solidFill>
                <a:latin typeface="Helvetica Neue"/>
              </a:rPr>
              <a:t>LazyDiT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7280"/>
                </a:solidFill>
                <a:latin typeface="Helvetica Neue"/>
              </a:rPr>
              <a:t>Accelerated diffusion transformers through lazy learning and reduced redundant computation.</a:t>
            </a:r>
          </a:p>
          <a:p>
            <a:pPr algn="l">
              <a:spcAft>
                <a:spcPts val="0"/>
              </a:spcAft>
            </a:pPr>
            <a:r>
              <a:rPr sz="1100" b="1">
                <a:solidFill>
                  <a:srgbClr val="2F8559"/>
                </a:solidFill>
                <a:latin typeface="Helvetica Neue"/>
              </a:rPr>
              <a:t>AAAI 2025  |  49 citations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3063240"/>
            <a:ext cx="3063240" cy="1920240"/>
          </a:xfrm>
          <a:prstGeom prst="roundRect">
            <a:avLst/>
          </a:prstGeom>
          <a:solidFill>
            <a:srgbClr val="FAFBFD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3063240"/>
            <a:ext cx="54864" cy="1920240"/>
          </a:xfrm>
          <a:prstGeom prst="rect">
            <a:avLst/>
          </a:prstGeom>
          <a:solidFill>
            <a:srgbClr val="2F85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49056" y="3227832"/>
            <a:ext cx="2743200" cy="166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1">
                <a:solidFill>
                  <a:srgbClr val="1A365D"/>
                </a:solidFill>
                <a:latin typeface="Helvetica Neue"/>
              </a:rPr>
              <a:t>Broader Generative AI Theme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6B7280"/>
                </a:solidFill>
                <a:latin typeface="Helvetica Neue"/>
              </a:rPr>
              <a:t>• High-resolution mobile generation (SnapGen, CVPR 2025).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6B7280"/>
                </a:solidFill>
                <a:latin typeface="Helvetica Neue"/>
              </a:rPr>
              <a:t>• Mobile video generation (SnapGen-V, CVPR 2025).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6B7280"/>
                </a:solidFill>
                <a:latin typeface="Helvetica Neue"/>
              </a:rPr>
              <a:t>• Recent work also spans efficient autoencoders and diffusion acceleration.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73152" cy="43891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2412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A365D"/>
                </a:solidFill>
                <a:latin typeface="Helvetica Neue"/>
              </a:rPr>
              <a:t>Selected Contributions: Compression and Hardware-Aware Optimization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Helvetica Neue"/>
              </a:rPr>
              <a:t>Quantization, sparse training, and FPGA-aware acceleration for efficient AI systems.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325880"/>
            <a:ext cx="3520440" cy="164592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" y="1435608"/>
            <a:ext cx="320954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 b="1">
                <a:solidFill>
                  <a:srgbClr val="1A365D"/>
                </a:solidFill>
                <a:latin typeface="Helvetica Neue"/>
              </a:rPr>
              <a:t>Mix and Match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7280"/>
                </a:solidFill>
                <a:latin typeface="Helvetica Neue"/>
              </a:rPr>
              <a:t>FPGA-centric mixed-scheme quantization framework for efficient DNN acceleration.</a:t>
            </a:r>
          </a:p>
          <a:p>
            <a:pPr algn="l">
              <a:spcAft>
                <a:spcPts val="0"/>
              </a:spcAft>
            </a:pPr>
            <a:r>
              <a:rPr sz="1100" b="1">
                <a:solidFill>
                  <a:srgbClr val="734AB8"/>
                </a:solidFill>
                <a:latin typeface="Helvetica Neue"/>
              </a:rPr>
              <a:t>HPCA 2021  |  156 citations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1325880"/>
            <a:ext cx="3520440" cy="164592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73168" y="1435608"/>
            <a:ext cx="320954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 b="1">
                <a:solidFill>
                  <a:srgbClr val="1A365D"/>
                </a:solidFill>
                <a:latin typeface="Helvetica Neue"/>
              </a:rPr>
              <a:t>FILM-QNN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7280"/>
                </a:solidFill>
                <a:latin typeface="Helvetica Neue"/>
              </a:rPr>
              <a:t>Intra-layer mixed-precision quantization for efficient FPGA deployment of deep networks.</a:t>
            </a:r>
          </a:p>
          <a:p>
            <a:pPr algn="l">
              <a:spcAft>
                <a:spcPts val="0"/>
              </a:spcAft>
            </a:pPr>
            <a:r>
              <a:rPr sz="1100" b="1">
                <a:solidFill>
                  <a:srgbClr val="734AB8"/>
                </a:solidFill>
                <a:latin typeface="Helvetica Neue"/>
              </a:rPr>
              <a:t>FPGA 2022  |  128 citations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325880"/>
            <a:ext cx="3063240" cy="164592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30768" y="1435608"/>
            <a:ext cx="275234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 b="1">
                <a:solidFill>
                  <a:srgbClr val="1A365D"/>
                </a:solidFill>
                <a:latin typeface="Helvetica Neue"/>
              </a:rPr>
              <a:t>Auto-ViT-Acc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7280"/>
                </a:solidFill>
                <a:latin typeface="Helvetica Neue"/>
              </a:rPr>
              <a:t>FPGA-aware acceleration framework for vision transformers with mixed-scheme quantization.</a:t>
            </a:r>
          </a:p>
          <a:p>
            <a:pPr algn="l">
              <a:spcAft>
                <a:spcPts val="0"/>
              </a:spcAft>
            </a:pPr>
            <a:r>
              <a:rPr sz="1100" b="1">
                <a:solidFill>
                  <a:srgbClr val="734AB8"/>
                </a:solidFill>
                <a:latin typeface="Helvetica Neue"/>
              </a:rPr>
              <a:t>FPL 2022  |  104 citations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337560"/>
            <a:ext cx="3520440" cy="164592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3447288"/>
            <a:ext cx="320954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 b="1">
                <a:solidFill>
                  <a:srgbClr val="1A365D"/>
                </a:solidFill>
                <a:latin typeface="Helvetica Neue"/>
              </a:rPr>
              <a:t>Layer Freezing and Data Sieving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7280"/>
                </a:solidFill>
                <a:latin typeface="Helvetica Neue"/>
              </a:rPr>
              <a:t>Sparse training framework that combines layer freezing with data sieving for efficiency.</a:t>
            </a:r>
          </a:p>
          <a:p>
            <a:pPr algn="l">
              <a:spcAft>
                <a:spcPts val="0"/>
              </a:spcAft>
            </a:pPr>
            <a:r>
              <a:rPr sz="1100" b="1">
                <a:solidFill>
                  <a:srgbClr val="734AB8"/>
                </a:solidFill>
                <a:latin typeface="Helvetica Neue"/>
              </a:rPr>
              <a:t>NeurIPS 2022  |  36 citations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3246120"/>
            <a:ext cx="6720840" cy="1828800"/>
          </a:xfrm>
          <a:prstGeom prst="roundRect">
            <a:avLst/>
          </a:prstGeom>
          <a:solidFill>
            <a:srgbClr val="FAFBFD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0" y="3246120"/>
            <a:ext cx="54864" cy="1828800"/>
          </a:xfrm>
          <a:prstGeom prst="rect">
            <a:avLst/>
          </a:prstGeom>
          <a:solidFill>
            <a:srgbClr val="734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91456" y="3410712"/>
            <a:ext cx="640080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1">
                <a:solidFill>
                  <a:srgbClr val="1A365D"/>
                </a:solidFill>
                <a:latin typeface="Helvetica Neue"/>
              </a:rPr>
              <a:t>Systems Perspective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6B7280"/>
                </a:solidFill>
                <a:latin typeface="Helvetica Neue"/>
              </a:rPr>
              <a:t>• Compression methods are developed with deployment constraints in mind: latency, memory, and energy.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6B7280"/>
                </a:solidFill>
                <a:latin typeface="Helvetica Neue"/>
              </a:rPr>
              <a:t>• The same optimization perspective carries into diffusion model acceleration and on-device video generation.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6B7280"/>
                </a:solidFill>
                <a:latin typeface="Helvetica Neue"/>
              </a:rPr>
              <a:t>• Work spans algorithm design, mixed precision, architecture search, and reconfigurable hardware acceleration.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73152" cy="43891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2412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A365D"/>
                </a:solidFill>
                <a:latin typeface="Helvetica Neue"/>
              </a:rPr>
              <a:t>Research Impact and Representative Publications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Helvetica Neue"/>
              </a:rPr>
              <a:t>Selected paper influence from the public Google Scholar profile (March 2026).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325880"/>
            <a:ext cx="5074920" cy="4480560"/>
          </a:xfrm>
          <a:prstGeom prst="roundRect">
            <a:avLst/>
          </a:prstGeom>
          <a:solidFill>
            <a:srgbClr val="FAFBFD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" y="1490472"/>
            <a:ext cx="4764024" cy="422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1A365D"/>
                </a:solidFill>
                <a:latin typeface="Helvetica Neue"/>
              </a:rPr>
              <a:t>Highly Cited Contributions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6B7280"/>
                </a:solidFill>
                <a:latin typeface="Helvetica Neue"/>
              </a:rPr>
              <a:t>EfficientFormer (NeurIPS 2022) — 764 citations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6B7280"/>
                </a:solidFill>
                <a:latin typeface="Helvetica Neue"/>
              </a:rPr>
              <a:t>EfficientFormerV2 (ICCV 2023) — 428 citations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6B7280"/>
                </a:solidFill>
                <a:latin typeface="Helvetica Neue"/>
              </a:rPr>
              <a:t>SnapFusion (NeurIPS 2023) — 305 citations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6B7280"/>
                </a:solidFill>
                <a:latin typeface="Helvetica Neue"/>
              </a:rPr>
              <a:t>Mix and Match (HPCA 2021) — 156 citations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6B7280"/>
                </a:solidFill>
                <a:latin typeface="Helvetica Neue"/>
              </a:rPr>
              <a:t>FILM-QNN (FPGA 2022) — 128 citations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6B7280"/>
                </a:solidFill>
                <a:latin typeface="Helvetica Neue"/>
              </a:rPr>
              <a:t>Auto-ViT-Acc (FPL 2022) — 104 citations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6B7280"/>
                </a:solidFill>
                <a:latin typeface="Helvetica Neue"/>
              </a:rPr>
              <a:t>HyperHuman (ICLR 2024) — 83 citations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6B7280"/>
                </a:solidFill>
                <a:latin typeface="Helvetica Neue"/>
              </a:rPr>
              <a:t>Pruning-as-Search (IJCAI 2022) — 78 citations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25880"/>
            <a:ext cx="5074920" cy="4480560"/>
          </a:xfrm>
          <a:prstGeom prst="roundRect">
            <a:avLst/>
          </a:prstGeom>
          <a:solidFill>
            <a:srgbClr val="FAFBFD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19088" y="1490472"/>
            <a:ext cx="4764024" cy="422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1A365D"/>
                </a:solidFill>
                <a:latin typeface="Helvetica Neue"/>
              </a:rPr>
              <a:t>Recent Generative and Systems Work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6B7280"/>
                </a:solidFill>
                <a:latin typeface="Helvetica Neue"/>
              </a:rPr>
              <a:t>LazyDiT (AAAI 2025) — 49 citations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6B7280"/>
                </a:solidFill>
                <a:latin typeface="Helvetica Neue"/>
              </a:rPr>
              <a:t>BitsFusion (NeurIPS 2024) — 43 citations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6B7280"/>
                </a:solidFill>
                <a:latin typeface="Helvetica Neue"/>
              </a:rPr>
              <a:t>TextCraftor (CVPR 2024) — 32 citations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6B7280"/>
                </a:solidFill>
                <a:latin typeface="Helvetica Neue"/>
              </a:rPr>
              <a:t>SF-V (NeurIPS 2024) — 31 citations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6B7280"/>
                </a:solidFill>
                <a:latin typeface="Helvetica Neue"/>
              </a:rPr>
              <a:t>SnapGen (CVPR 2025) — 21 citations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6B7280"/>
                </a:solidFill>
                <a:latin typeface="Helvetica Neue"/>
              </a:rPr>
              <a:t>SnapGen-V (CVPR 2025) — 19 citations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6B7280"/>
                </a:solidFill>
                <a:latin typeface="Helvetica Neue"/>
              </a:rPr>
              <a:t>SDA (FPL 2024) — 20 citations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6B7280"/>
                </a:solidFill>
                <a:latin typeface="Helvetica Neue"/>
              </a:rPr>
              <a:t>Towards Real-Time Segmentation on the Edge (AAAI 2023) — 25 citations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73152" cy="43891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2412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A365D"/>
                </a:solidFill>
                <a:latin typeface="Helvetica Neue"/>
              </a:rPr>
              <a:t>Patents, Service, and Collaboration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Helvetica Neue"/>
              </a:rPr>
              <a:t>Professional activities beyond publications.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325880"/>
            <a:ext cx="5303520" cy="4389120"/>
          </a:xfrm>
          <a:prstGeom prst="roundRect">
            <a:avLst/>
          </a:prstGeom>
          <a:solidFill>
            <a:srgbClr val="FAFBFD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" y="1490472"/>
            <a:ext cx="4992624" cy="4133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1A365D"/>
                </a:solidFill>
                <a:latin typeface="Helvetica Neue"/>
              </a:rPr>
              <a:t>Patents and Applications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6B7280"/>
                </a:solidFill>
                <a:latin typeface="Helvetica Neue"/>
              </a:rPr>
              <a:t>EfficientFormer Vision Transformer — US Patent 12,236,668 (2025)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6B7280"/>
                </a:solidFill>
                <a:latin typeface="Helvetica Neue"/>
              </a:rPr>
              <a:t>Text-to-Image Diffusion Model Rearchitecture — US Patent 12,469,273 (2025)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6B7280"/>
                </a:solidFill>
                <a:latin typeface="Helvetica Neue"/>
              </a:rPr>
              <a:t>Vision Transformer for MobileNet Size and Speed — US Patent App. 18/080,993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6B7280"/>
                </a:solidFill>
                <a:latin typeface="Helvetica Neue"/>
              </a:rPr>
              <a:t>Step Distillation for Latent Diffusion Models — US Patent App. 18/434,411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6B7280"/>
                </a:solidFill>
                <a:latin typeface="Helvetica Neue"/>
              </a:rPr>
              <a:t>Automatic Image Generation Using Latent Structural Diffusion — US Patent App. 18/429,251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325880"/>
            <a:ext cx="4800600" cy="2057400"/>
          </a:xfrm>
          <a:prstGeom prst="roundRect">
            <a:avLst/>
          </a:prstGeom>
          <a:solidFill>
            <a:srgbClr val="FAFBFD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93408" y="1490472"/>
            <a:ext cx="4489704" cy="1801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1A365D"/>
                </a:solidFill>
                <a:latin typeface="Helvetica Neue"/>
              </a:rPr>
              <a:t>Professional Service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6B7280"/>
                </a:solidFill>
                <a:latin typeface="Helvetica Neue"/>
              </a:rPr>
              <a:t>Conference reviewer: NeurIPS, ICCV, ECCV, CVPR, and related venues.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6B7280"/>
                </a:solidFill>
                <a:latin typeface="Helvetica Neue"/>
              </a:rPr>
              <a:t>Journal reviewer: IEEE TCAD, IEEE TCAS, and related journals.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6B7280"/>
                </a:solidFill>
                <a:latin typeface="Helvetica Neue"/>
              </a:rPr>
              <a:t>Teaching Assistant: Advances in Deep Learning, Northeastern University.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3657600"/>
            <a:ext cx="4800600" cy="2057400"/>
          </a:xfrm>
          <a:prstGeom prst="roundRect">
            <a:avLst/>
          </a:prstGeom>
          <a:solidFill>
            <a:srgbClr val="FAFBFD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93408" y="3822192"/>
            <a:ext cx="4489704" cy="1801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1A365D"/>
                </a:solidFill>
                <a:latin typeface="Helvetica Neue"/>
              </a:rPr>
              <a:t>Collaboration Interests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6B7280"/>
                </a:solidFill>
                <a:latin typeface="Helvetica Neue"/>
              </a:rPr>
              <a:t>Efficient AI and on-device foundation models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6B7280"/>
                </a:solidFill>
                <a:latin typeface="Helvetica Neue"/>
              </a:rPr>
              <a:t>Generative vision systems under resource constraints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6B7280"/>
                </a:solidFill>
                <a:latin typeface="Helvetica Neue"/>
              </a:rPr>
              <a:t>Hardware-aware model design and acceleration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920240"/>
            <a:ext cx="9418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600" b="1">
                <a:solidFill>
                  <a:srgbClr val="FFFFFF"/>
                </a:solidFill>
                <a:latin typeface="Helvetica Neue"/>
              </a:rPr>
              <a:t>Thank You</a:t>
            </a:r>
          </a:p>
          <a:p>
            <a:pPr algn="ctr">
              <a:spcAft>
                <a:spcPts val="2400"/>
              </a:spcAft>
            </a:pPr>
            <a:r>
              <a:rPr sz="1800" b="0">
                <a:solidFill>
                  <a:srgbClr val="B7CBE3"/>
                </a:solidFill>
                <a:latin typeface="Helvetica Neue"/>
              </a:rPr>
              <a:t>Open to research collaborations and discussions on efficient AI and generative modeling.</a:t>
            </a:r>
          </a:p>
          <a:p>
            <a:pPr algn="ctr">
              <a:spcAft>
                <a:spcPts val="1000"/>
              </a:spcAft>
            </a:pPr>
            <a:r>
              <a:rPr sz="1700" b="0">
                <a:solidFill>
                  <a:srgbClr val="B7CBE3"/>
                </a:solidFill>
                <a:latin typeface="Helvetica Neue"/>
              </a:rPr>
              <a:t>yanyu.li@northeastern.edu</a:t>
            </a:r>
          </a:p>
          <a:p>
            <a:pPr algn="ctr">
              <a:spcAft>
                <a:spcPts val="1000"/>
              </a:spcAft>
            </a:pPr>
            <a:r>
              <a:rPr sz="1700" b="0">
                <a:solidFill>
                  <a:srgbClr val="B7CBE3"/>
                </a:solidFill>
                <a:latin typeface="Helvetica Neue"/>
              </a:rPr>
              <a:t>Google Scholar: scholar.google.com/citations?user=XUj8koUAAAAJ</a:t>
            </a:r>
          </a:p>
          <a:p>
            <a:pPr algn="ctr">
              <a:spcAft>
                <a:spcPts val="0"/>
              </a:spcAft>
            </a:pPr>
            <a:r>
              <a:rPr sz="1700" b="0">
                <a:solidFill>
                  <a:srgbClr val="B7CBE3"/>
                </a:solidFill>
                <a:latin typeface="Helvetica Neue"/>
              </a:rPr>
              <a:t>GitHub: github.com/liyy201912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