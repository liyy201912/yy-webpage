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645920"/>
            <a:ext cx="9692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Helvetica Neue"/>
              </a:rPr>
              <a:t>Yanyu Li</a:t>
            </a:r>
          </a:p>
          <a:p>
            <a:pPr algn="ctr">
              <a:spcAft>
                <a:spcPts val="1600"/>
              </a:spcAft>
            </a:pPr>
            <a:r>
              <a:rPr sz="2300" b="0">
                <a:solidFill>
                  <a:srgbClr val="C8D8EE"/>
                </a:solidFill>
                <a:latin typeface="Helvetica Neue"/>
              </a:rPr>
              <a:t>Ph.D., Northeastern University</a:t>
            </a:r>
          </a:p>
          <a:p>
            <a:pPr algn="ctr">
              <a:spcAft>
                <a:spcPts val="1400"/>
              </a:spcAft>
            </a:pPr>
            <a:r>
              <a:rPr sz="1700" b="0">
                <a:solidFill>
                  <a:srgbClr val="A6BBD6"/>
                </a:solidFill>
                <a:latin typeface="Helvetica Neue"/>
              </a:rPr>
              <a:t>Efficient AI  |  Vision Transformers  |  Diffusion Models  |  Mobile and Edge Deployment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92ABC9"/>
                </a:solidFill>
                <a:latin typeface="Helvetica Neue"/>
              </a:rPr>
              <a:t>59 publications  |  2,963 citations  |  h-index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5212080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A6BBD6"/>
                </a:solidFill>
                <a:latin typeface="Helvetica Neue"/>
              </a:rPr>
              <a:t>li.yanyu@northeastern.edu   |   scholar.google.com/citations?user=XUj8koUAAAAJ   |   github.com/liyy201912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12064"/>
            <a:ext cx="73152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384048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  <a:latin typeface="Helvetica Neue"/>
              </a:rPr>
              <a:t>About Me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Bio, background, and current research focus.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6583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Helvetica Neue"/>
              </a:rPr>
              <a:t>I am a researcher in efficient AI, working at the intersection of vision transformers, diffusion models, model compression, and hardware-aware deployment. My goal is to bring state-of-the-art machine learning systems to mobile and edge platforms without sacrificing accuracy, quality, or practicality.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My work includes 59 publications, 2,963 citations, h-index 23, and 7 patents / patent applications, with papers at NeurIPS, CVPR, ICCV, ICLR, AAAI, IJCAI, ECCV, HPCA, FPGA, and FPL.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Current interests: efficient vision backbones, mobile text-to-image and video generation, quantization, sparse training, neural architecture search, and algorithm-hardware co-design.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325880"/>
            <a:ext cx="155448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sz="2400" b="1">
                <a:solidFill>
                  <a:srgbClr val="2B6CB0"/>
                </a:solidFill>
                <a:latin typeface="Helvetica Neue"/>
              </a:rPr>
              <a:t>2,963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Helvetica Neue"/>
              </a:rPr>
              <a:t>Citations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39" y="1325880"/>
            <a:ext cx="155448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sz="2400" b="1">
                <a:solidFill>
                  <a:srgbClr val="2B6CB0"/>
                </a:solidFill>
                <a:latin typeface="Helvetica Neue"/>
              </a:rPr>
              <a:t>23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Helvetica Neue"/>
              </a:rPr>
              <a:t>h-index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423160"/>
            <a:ext cx="155448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sz="2400" b="1">
                <a:solidFill>
                  <a:srgbClr val="2B6CB0"/>
                </a:solidFill>
                <a:latin typeface="Helvetica Neue"/>
              </a:rPr>
              <a:t>59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Helvetica Neue"/>
              </a:rPr>
              <a:t>Publications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39" y="2423160"/>
            <a:ext cx="155448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sz="2400" b="1">
                <a:solidFill>
                  <a:srgbClr val="2B6CB0"/>
                </a:solidFill>
                <a:latin typeface="Helvetica Neue"/>
              </a:rPr>
              <a:t>7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Helvetica Neue"/>
              </a:rPr>
              <a:t>Patents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5120640" cy="1920240"/>
          </a:xfrm>
          <a:prstGeom prst="roundRect">
            <a:avLst/>
          </a:prstGeom>
          <a:solidFill>
            <a:srgbClr val="FAFB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566160"/>
            <a:ext cx="54864" cy="19202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12464"/>
            <a:ext cx="482803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A365D"/>
                </a:solidFill>
                <a:latin typeface="Helvetica Neue"/>
              </a:rPr>
              <a:t>Education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• Ph.D. in Computer Engineering, Northeastern University (2019-2024); Advisor: Prof. Yanzhi Wang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• M.S. in Mechanical Engineering (Robotics), Boston University (2017-2019)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• B.E. in Mechanical Engineering, Tsinghua University (2011-2015)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566160"/>
            <a:ext cx="4983480" cy="1920240"/>
          </a:xfrm>
          <a:prstGeom prst="roundRect">
            <a:avLst/>
          </a:prstGeom>
          <a:solidFill>
            <a:srgbClr val="FAFB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3566160"/>
            <a:ext cx="54864" cy="1920240"/>
          </a:xfrm>
          <a:prstGeom prst="rect">
            <a:avLst/>
          </a:prstGeom>
          <a:solidFill>
            <a:srgbClr val="2F8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712464"/>
            <a:ext cx="469087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A365D"/>
                </a:solidFill>
                <a:latin typeface="Helvetica Neue"/>
              </a:rPr>
              <a:t>Experience Highlights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• Snap Inc.: efficient diffusion models, mobile generative AI, and quality-aware text encoders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• CoCoPIE LLC: algorithm-hardware co-design for compressed and quantized networks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• Kuaishou Technology: GAN compression and dynamic pruning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12064"/>
            <a:ext cx="73152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384048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  <a:latin typeface="Helvetica Neue"/>
              </a:rPr>
              <a:t>Summary of Research Directions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Three main directions organize the research portfolio.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3429000" cy="4297680"/>
          </a:xfrm>
          <a:prstGeom prst="roundRect">
            <a:avLst/>
          </a:prstGeom>
          <a:solidFill>
            <a:srgbClr val="FAFB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417320"/>
            <a:ext cx="64008" cy="429768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00200"/>
            <a:ext cx="30998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A365D"/>
                </a:solidFill>
                <a:latin typeface="Helvetica Neue"/>
              </a:rPr>
              <a:t>Efficient Vision Transformers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Lightweight transformer backbones for recognition and dense prediction under mobile latency and memory constraints.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2B6CB0"/>
                </a:solidFill>
                <a:latin typeface="Helvetica Neue"/>
              </a:rPr>
              <a:t>Representative work: EfficientFormer, EfficientFormerV2, Pruning-as-Search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417320"/>
            <a:ext cx="3429000" cy="4297680"/>
          </a:xfrm>
          <a:prstGeom prst="roundRect">
            <a:avLst/>
          </a:prstGeom>
          <a:solidFill>
            <a:srgbClr val="FAFB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417320"/>
            <a:ext cx="64008" cy="4297680"/>
          </a:xfrm>
          <a:prstGeom prst="rect">
            <a:avLst/>
          </a:prstGeom>
          <a:solidFill>
            <a:srgbClr val="2F8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600200"/>
            <a:ext cx="30998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A365D"/>
                </a:solidFill>
                <a:latin typeface="Helvetica Neue"/>
              </a:rPr>
              <a:t>Diffusion Models and Generative AI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Fast and practical text-to-image and video generation with improvements in quality control, acceleration, and compression.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2F8559"/>
                </a:solidFill>
                <a:latin typeface="Helvetica Neue"/>
              </a:rPr>
              <a:t>Representative work: SnapFusion, TextCraftor, BitsFusion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17320"/>
            <a:ext cx="3154680" cy="4297680"/>
          </a:xfrm>
          <a:prstGeom prst="roundRect">
            <a:avLst/>
          </a:prstGeom>
          <a:solidFill>
            <a:srgbClr val="FAFB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0" y="1417320"/>
            <a:ext cx="64008" cy="4297680"/>
          </a:xfrm>
          <a:prstGeom prst="rect">
            <a:avLst/>
          </a:prstGeom>
          <a:solidFill>
            <a:srgbClr val="73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600200"/>
            <a:ext cx="28254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A365D"/>
                </a:solidFill>
                <a:latin typeface="Helvetica Neue"/>
              </a:rPr>
              <a:t>Compression and Hardware-Aware Optimization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Quantization, sparse training, FPGA acceleration, and deployment-oriented model design.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734AB8"/>
                </a:solidFill>
                <a:latin typeface="Helvetica Neue"/>
              </a:rPr>
              <a:t>Representative work: Mix and Match, FILM-QNN, Auto-ViT-Acc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12064"/>
            <a:ext cx="73152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384048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  <a:latin typeface="Helvetica Neue"/>
              </a:rPr>
              <a:t>Direction 1: Efficient Vision Transformers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Most cited and representative work on mobile-speed visual architectures.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25880"/>
            <a:ext cx="54864" cy="129844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143560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EfficientFormer: Vision Transformers at MobileNet Speed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B6CB0"/>
                </a:solidFill>
                <a:latin typeface="Helvetica Neue"/>
              </a:rPr>
              <a:t>NeurIPS 2022  |  764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Proposed a dimension-consistent meta-block design that removes mobile-unfriendly transformer components while preserving strong accuracy.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Showed that vision transformers can operate at MobileNet-class speed on real mobile devices, making transformer deployment practical.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788920"/>
            <a:ext cx="54864" cy="129844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89864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Rethinking Vision Transformers for MobileNet Size and Speed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B6CB0"/>
                </a:solidFill>
                <a:latin typeface="Helvetica Neue"/>
              </a:rPr>
              <a:t>ICCV 2023  |  428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Refined the mobile transformer design space with better architecture choices for latency, model size, and accuracy.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Strengthened the case for transformer backbones in real-time mobile vision by improving the efficiency-accuracy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5196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251960"/>
            <a:ext cx="54864" cy="129844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36168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Pruning-as-Search: Efficient Neural Architecture Search via Channel Pruning and Structural Reparameterization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B6CB0"/>
                </a:solidFill>
                <a:latin typeface="Helvetica Neue"/>
              </a:rPr>
              <a:t>IJCAI 2022  |  78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Reformulated efficient architecture search using channel pruning and structural reparameterization instead of expensive search loops.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Connected efficient model design with deployment-oriented architectures and reduced the cost of searching for compact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Helvetica Neue"/>
              </a:rPr>
              <a:t>Related work: Towards Real-Time Segmentation on the Edge (AAAI 2023) extends efficient design ideas to dense prediction on edge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12064"/>
            <a:ext cx="73152" cy="457200"/>
          </a:xfrm>
          <a:prstGeom prst="rect">
            <a:avLst/>
          </a:prstGeom>
          <a:solidFill>
            <a:srgbClr val="2F8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384048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  <a:latin typeface="Helvetica Neue"/>
              </a:rPr>
              <a:t>Direction 2: Diffusion Models and Generative AI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Recent and highly visible work on efficient generative modeling for mobile and edge deployment.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25880"/>
            <a:ext cx="54864" cy="1298448"/>
          </a:xfrm>
          <a:prstGeom prst="rect">
            <a:avLst/>
          </a:prstGeom>
          <a:solidFill>
            <a:srgbClr val="2F8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143560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SnapFusion: Text-to-Image Diffusion Model on Mobile Devices within Two Seconds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F8559"/>
                </a:solidFill>
                <a:latin typeface="Helvetica Neue"/>
              </a:rPr>
              <a:t>NeurIPS 2023  |  305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Redesigned the text-to-image diffusion pipeline for on-device generation through efficient architecture and faster inference.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Demonstrated that high-quality text-to-image diffusion can run in under two seconds on mobile hardware.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788920"/>
            <a:ext cx="54864" cy="1298448"/>
          </a:xfrm>
          <a:prstGeom prst="rect">
            <a:avLst/>
          </a:prstGeom>
          <a:solidFill>
            <a:srgbClr val="2F8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89864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TextCraftor: Your Text Encoder Can Be Image Quality Controller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F8559"/>
                </a:solidFill>
                <a:latin typeface="Helvetica Neue"/>
              </a:rPr>
              <a:t>CVPR 2024  |  32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Showed that the text encoder can act as an explicit control knob for image quality and text-image alignment.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Improved generation quality without relying only on larger backbones or slower sampling procedures.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5196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251960"/>
            <a:ext cx="54864" cy="1298448"/>
          </a:xfrm>
          <a:prstGeom prst="rect">
            <a:avLst/>
          </a:prstGeom>
          <a:solidFill>
            <a:srgbClr val="2F85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36168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BitsFusion: 1.99 Bits Weight Quantization of Diffusion Model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F8559"/>
                </a:solidFill>
                <a:latin typeface="Helvetica Neue"/>
              </a:rPr>
              <a:t>NeurIPS 2024  |  43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Introduced ultra-low-bit weight quantization for diffusion models at 1.99 bits with compression-aware optimization.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Pushed diffusion efficiency to an aggressive low-precision regime while maintaining useful generation quality.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Helvetica Neue"/>
              </a:rPr>
              <a:t>Other recent work: LazyDiT (AAAI 2025), SF-V (NeurIPS 2024), SnapGen / SnapGen-V (CVPR 2025), and Improving the Diffusability of Autoencoders (2025).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12064"/>
            <a:ext cx="73152" cy="457200"/>
          </a:xfrm>
          <a:prstGeom prst="rect">
            <a:avLst/>
          </a:prstGeom>
          <a:solidFill>
            <a:srgbClr val="73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384048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  <a:latin typeface="Helvetica Neue"/>
              </a:rPr>
              <a:t>Direction 3: Compression and Hardware-Aware Optimization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Helvetica Neue"/>
              </a:rPr>
              <a:t>Most cited systems work on quantization, sparse training, and FPGA-aware acceleration.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25880"/>
            <a:ext cx="54864" cy="1298448"/>
          </a:xfrm>
          <a:prstGeom prst="rect">
            <a:avLst/>
          </a:prstGeom>
          <a:solidFill>
            <a:srgbClr val="73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143560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Mix and Match: A Novel FPGA-Centric Deep Neural Network Quantization Framework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734AB8"/>
                </a:solidFill>
                <a:latin typeface="Helvetica Neue"/>
              </a:rPr>
              <a:t>HPCA 2021  |  156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Proposed an FPGA-centric quantization framework that mixes quantization schemes and precisions within a network.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Aligned model compression with actual accelerator behavior instead of optimizing only abstract algorithmic metrics.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788920"/>
            <a:ext cx="54864" cy="1298448"/>
          </a:xfrm>
          <a:prstGeom prst="rect">
            <a:avLst/>
          </a:prstGeom>
          <a:solidFill>
            <a:srgbClr val="73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89864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FILM-QNN: Efficient FPGA Acceleration of Deep Neural Networks with Intra-Layer, Mixed-Precision Quantization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734AB8"/>
                </a:solidFill>
                <a:latin typeface="Helvetica Neue"/>
              </a:rPr>
              <a:t>FPGA 2022  |  128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Developed intra-layer mixed-precision quantization for efficient FPGA deployment of deep neural networks.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Improved hardware utilization and showed strong accuracy-efficiency trade-offs on real accelerator targets.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51960"/>
            <a:ext cx="1037844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251960"/>
            <a:ext cx="54864" cy="1298448"/>
          </a:xfrm>
          <a:prstGeom prst="rect">
            <a:avLst/>
          </a:prstGeom>
          <a:solidFill>
            <a:srgbClr val="73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361688"/>
            <a:ext cx="10049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>
                <a:solidFill>
                  <a:srgbClr val="1A365D"/>
                </a:solidFill>
                <a:latin typeface="Helvetica Neue"/>
              </a:rPr>
              <a:t>Auto-ViT-Acc: An FPGA-Aware Automatic Acceleration Framework for Vision Transformer with Mixed-Scheme Quantization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734AB8"/>
                </a:solidFill>
                <a:latin typeface="Helvetica Neue"/>
              </a:rPr>
              <a:t>FPL 2022  |  104 citations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Built an FPGA-aware acceleration framework for vision transformers using mixed-scheme quantization and automatic mapping.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Helvetica Neue"/>
              </a:rPr>
              <a:t>• Extended hardware-aware optimization from CNNs to transformer inference and practical deployment.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Helvetica Neue"/>
              </a:rPr>
              <a:t>Other related work: Layer Freezing and Data Sieving (NeurIPS 2022), NPAS (CVPR 2021), RMSMP (ICCV 2021), and SDA (FPL 2024).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965960"/>
            <a:ext cx="93268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Helvetica Neue"/>
              </a:rPr>
              <a:t>Thank You</a:t>
            </a:r>
          </a:p>
          <a:p>
            <a:pPr algn="ctr">
              <a:spcAft>
                <a:spcPts val="2400"/>
              </a:spcAft>
            </a:pPr>
            <a:r>
              <a:rPr sz="1800" b="0">
                <a:solidFill>
                  <a:srgbClr val="B7CBE3"/>
                </a:solidFill>
                <a:latin typeface="Helvetica Neue"/>
              </a:rPr>
              <a:t>Open to research collaborations and discussions on efficient AI, generative modeling, and mobile deployment.</a:t>
            </a:r>
          </a:p>
          <a:p>
            <a:pPr algn="ctr">
              <a:spcAft>
                <a:spcPts val="1000"/>
              </a:spcAft>
            </a:pPr>
            <a:r>
              <a:rPr sz="1700" b="0">
                <a:solidFill>
                  <a:srgbClr val="B7CBE3"/>
                </a:solidFill>
                <a:latin typeface="Helvetica Neue"/>
              </a:rPr>
              <a:t>li.yanyu@northeastern.edu</a:t>
            </a:r>
          </a:p>
          <a:p>
            <a:pPr algn="ctr">
              <a:spcAft>
                <a:spcPts val="1000"/>
              </a:spcAft>
            </a:pPr>
            <a:r>
              <a:rPr sz="1700" b="0">
                <a:solidFill>
                  <a:srgbClr val="B7CBE3"/>
                </a:solidFill>
                <a:latin typeface="Helvetica Neue"/>
              </a:rPr>
              <a:t>Google Scholar: scholar.google.com/citations?user=XUj8koUAAAAJ</a:t>
            </a:r>
          </a:p>
          <a:p>
            <a:pPr algn="ctr">
              <a:spcAft>
                <a:spcPts val="0"/>
              </a:spcAft>
            </a:pPr>
            <a:r>
              <a:rPr sz="1700" b="0">
                <a:solidFill>
                  <a:srgbClr val="B7CBE3"/>
                </a:solidFill>
                <a:latin typeface="Helvetica Neue"/>
              </a:rPr>
              <a:t>GitHub: github.com/liyy201912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